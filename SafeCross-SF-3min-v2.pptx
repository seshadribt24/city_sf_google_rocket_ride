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seconds. Just say: 'We're SafeCross SF — we built an AI-powered system that gives seniors more time to cross the street safely. Here's the problem we're solving.'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seconds. Walk through the three numbers quickly: '52.9% of SF traffic deaths are pedestrians — the worst of any major US city. 75% of those killed last year were seniors over 65. Vision Zero promised zero deaths by 2024 — the city had 43. The core insight: crosswalk signals give everyone the same time, but seniors walk slower. Singapore solved this 15 years ago with a card-tap system. We're bringing it to SF with AI.'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 'SafeCross has three phases. Phase 1 is the MVP: a senior taps their existing Clipper card at the signal pole, and we extend the walk signal 6-13 extra seconds. Same gesture as boarding a bus — no enrollment needed. Phase 2 adds thermal sensors that detect pedestrians automatically — no card needed, works at night. Phase 3 is where AI comes in: Gemini Vision analyzes every crossing event — detecting vehicles in crosswalks, flagging near-misses in real time, and creating a safety dataset that doesn't exist anywhere today. It also generates natural-language timing recommendations for city engineers.'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seconds. 'Here's the flow: Step 1, the senior taps their Clipper card — the NFC reader identifies it as a senior card in under 200 milliseconds. Step 2, the edge controller inside the signal cabinet calculates how much extra time based on crossing width. Step 3, it sends a standard NTCIP command to extend the walk phase — and always restores baseline timing afterward. Step 4, Gemini Vision analyzes the crossing scene — it identifies vehicles in the crosswalk, estimates distance, and flags near-misses. The AI also generates timing recommendations for engineers. Total latency under 500ms. Cost per intersection under $3,000 — cheaper than a speed bump.'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seconds. 'The system has three compute nodes. An NFC reader on the signal pole running 900 lines of C firmware. An edge controller in the signal cabinet running 3,000 lines of Python — this handles the NTCIP protocol to the signal controller. And the cloud layer with multimodal AI — Gemini Vision analyzes every crossing event for vehicles in the crosswalk, and generates natural-language timing recommendations for city engineers. Total: 9,500 lines of code. And it's fail-safe by design — if anything crashes, the traffic signal continues normally.'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seconds. This is where you switch to a live demo or screen recording. Demo sequence: 1) Show the dashboard with live events flowing — point out the vision badges showing near-miss detection in real time. 2) Click into Market &amp; 5th — show the Safety Analysis section with AI-flagged vehicle detections and risk levels. 3) Click AI Recommendation — show Gemini generating a specific timing change with physics reasoning based on crossing width and walking speed. Keep it tight — 60 seconds max.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'SafeCross SF: proven concept from Singapore, adapted for SF with AI-powered analytics. Under $3,000 per intersection. Under 500 milliseconds. 9,500 lines of fully specified code. Thank you — happy to take questions.'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backup slide — not part of the 3-minute pitch. Use during Q&amp;A if judges ask about sources. All claims are sourced from official city/state agencies, news organizations, or international government publications.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hyperlink" Target="https://www.ghsa.org/resources/Pedestrians24" TargetMode="External"/><Relationship Id="rId2" Type="http://schemas.openxmlformats.org/officeDocument/2006/relationships/hyperlink" Target="https://www.sfmta.com/press-releases/press-release-san-francisco-traffic-fatalities-drop-nearly-half-2025" TargetMode="External"/><Relationship Id="rId3" Type="http://schemas.openxmlformats.org/officeDocument/2006/relationships/hyperlink" Target="https://www.kqed.org/news/12025041/san-francisco-street-safety-executive-directive-lurie" TargetMode="External"/><Relationship Id="rId4" Type="http://schemas.openxmlformats.org/officeDocument/2006/relationships/hyperlink" Target="https://www.sfmta.com/blog/safer-streets-more-reliable-rides-10-highlights-2025" TargetMode="External"/><Relationship Id="rId5" Type="http://schemas.openxmlformats.org/officeDocument/2006/relationships/hyperlink" Target="https://visionzeronetwork.org/vision-zero-in-2025-shows-progress/" TargetMode="External"/><Relationship Id="rId6" Type="http://schemas.openxmlformats.org/officeDocument/2006/relationships/hyperlink" Target="https://walksf.org/blog/the-street-safety-act-is-passed-unanimously-by-the-board-of-supervisors/" TargetMode="External"/><Relationship Id="rId7" Type="http://schemas.openxmlformats.org/officeDocument/2006/relationships/hyperlink" Target="https://thefrisc.com/sfmta-traffic-calming-speed-humps-141-locations" TargetMode="External"/><Relationship Id="rId8" Type="http://schemas.openxmlformats.org/officeDocument/2006/relationships/hyperlink" Target="https://www.lta.gov.sg/content/ltagov/en/getting_around/driving_in_singapore/intelligent_transport_systems.html" TargetMode="External"/><Relationship Id="rId9" Type="http://schemas.openxmlformats.org/officeDocument/2006/relationships/hyperlink" Target="https://www.lta.gov.sg/content/ltagov/en/getting_around/driving_in_singapore/road_safety.html" TargetMode="External"/><Relationship Id="rId10" Type="http://schemas.openxmlformats.org/officeDocument/2006/relationships/hyperlink" Target="https://www.clippercard.com/ClipperWeb/index.html" TargetMode="External"/><Relationship Id="rId11" Type="http://schemas.openxmlformats.org/officeDocument/2006/relationships/hyperlink" Target="https://www.sfmta.com/fares/clipper-card" TargetMode="External"/><Relationship Id="rId12" Type="http://schemas.openxmlformats.org/officeDocument/2006/relationships/hyperlink" Target="https://www.ntcip.org/library/standards/default.asp?documents=yes&amp;standard=1202" TargetMode="External"/><Relationship Id="rId13" Type="http://schemas.openxmlformats.org/officeDocument/2006/relationships/hyperlink" Target="https://www.sfmta.com/projects/connected-corridor-project" TargetMode="Externa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1188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SafeCross SF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417320" y="20116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adaptive pedestrian crossings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seniors and people with disabilities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417320" y="297180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141732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 street safety  |  Hackathon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 are dying on San Francisco's streets — and signal timing treats everyone the same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2468880" cy="14630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54864" cy="146304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173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52.9%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SF traffic deaths 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pedestrians — highest share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any major US city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29000" y="1234440"/>
            <a:ext cx="2468880" cy="146304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123444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4173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3657600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2025 pedestrian fatalities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older adults (65+)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most vulnerable group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17920" y="1234440"/>
            <a:ext cx="246888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234440"/>
            <a:ext cx="54864" cy="1463040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4173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vs 43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6446520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Zero targeted zero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— SF had 43 in 2024,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year since 2007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80" y="2971800"/>
            <a:ext cx="7863840" cy="9144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" y="297180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546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3063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insight: signal timing treats all pedestrians identically, but seniors walk slower and need 6-13 extra seconds to cross safely. Singapore solved this in 2009 — we're adapting it for SF.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solution: SafeCross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tap → auto-detect → AI-driven predictive timing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2468880" cy="3474720"/>
          </a:xfrm>
          <a:prstGeom prst="rect">
            <a:avLst/>
          </a:prstGeom>
          <a:solidFill>
            <a:srgbClr val="183B4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43000"/>
            <a:ext cx="246888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4173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MVP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Clipper card tap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228600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taps existing Clipper card on NFC reader at signal pole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signal extended 6-13 sec based on crossing width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gesture they already use to board Muni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enrollment, no app, no new card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37560" y="1143000"/>
            <a:ext cx="2468880" cy="3474720"/>
          </a:xfrm>
          <a:prstGeom prst="rect">
            <a:avLst/>
          </a:prstGeom>
          <a:solidFill>
            <a:srgbClr val="183B4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114300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4173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69080" y="14173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61188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auto-detect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611880" y="228600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sensor detects all pedestrians automatically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card needed — catches tourists, visitors, forgetful seniors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darkness, fog, and rain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low resolution for facial ID — privacy by design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35040" y="1143000"/>
            <a:ext cx="2468880" cy="3474720"/>
          </a:xfrm>
          <a:prstGeom prst="rect">
            <a:avLst/>
          </a:prstGeom>
          <a:solidFill>
            <a:srgbClr val="183B4E"/>
          </a:solidFill>
          <a:ln/>
        </p:spPr>
      </p:sp>
      <p:sp>
        <p:nvSpPr>
          <p:cNvPr id="18" name="Shape 14"/>
          <p:cNvSpPr/>
          <p:nvPr/>
        </p:nvSpPr>
        <p:spPr>
          <a:xfrm>
            <a:off x="6035040" y="1143000"/>
            <a:ext cx="246888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14173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AI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30936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+ insights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309360" y="228600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analyzes every crossing for vehicle threats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near-misses in real time — creates safety data that doesn't exist today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permanent timing adjustments — no tap required during peak hours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AI: vision + natural language insights for SFMTA engineers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tap to extended walk signal in under 500 milliseconds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737360" cy="23774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1737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4173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tap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taps Clipper card on NFC reader at signal pole (ADA height). Reader classifies card type in &lt;200ms.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2313432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514600" y="1234440"/>
            <a:ext cx="1737360" cy="237744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514600" y="1234440"/>
            <a:ext cx="17373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0"/>
          <p:cNvSpPr/>
          <p:nvPr/>
        </p:nvSpPr>
        <p:spPr>
          <a:xfrm>
            <a:off x="265176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4173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65176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decision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2651760" y="21488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controller calculates extension (6-13 sec) based on crossing width. Safety module validates all parameters.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824" y="2313432"/>
            <a:ext cx="201168" cy="20116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572000" y="1234440"/>
            <a:ext cx="1737360" cy="23774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572000" y="1234440"/>
            <a:ext cx="1737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5"/>
          <p:cNvSpPr/>
          <p:nvPr/>
        </p:nvSpPr>
        <p:spPr>
          <a:xfrm>
            <a:off x="470916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14173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0916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command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709160" y="21488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NTCIP/SNMP command extends pedestrian walk phase. Baseline timing always restored after crossing.</a:t>
            </a:r>
            <a:endParaRPr lang="en-US" sz="10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2313432"/>
            <a:ext cx="201168" cy="201168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629400" y="1234440"/>
            <a:ext cx="1737360" cy="237744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629400" y="1234440"/>
            <a:ext cx="17373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0"/>
          <p:cNvSpPr/>
          <p:nvPr/>
        </p:nvSpPr>
        <p:spPr>
          <a:xfrm>
            <a:off x="676656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1417320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76656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+ AI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6766560" y="21488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analyzes crossing scene — flags vehicles, estimates distance. AI generates timing recommendations for engineers.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112E3C"/>
          </a:solidFill>
          <a:ln/>
        </p:spPr>
      </p:sp>
      <p:sp>
        <p:nvSpPr>
          <p:cNvPr id="33" name="Text 24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End-to-end latency: </a:t>
            </a:r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&lt;500ms</a:t>
            </a:r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|     Hardware per intersection: </a:t>
            </a:r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$1,430 – 3,100</a:t>
            </a:r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|     Safety: </a:t>
            </a:r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by design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physical locations, five software layers, AI at the data layer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246888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pole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2468880" cy="1920240"/>
          </a:xfrm>
          <a:prstGeom prst="rect">
            <a:avLst/>
          </a:prstGeom>
          <a:solidFill>
            <a:srgbClr val="F0FDF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reader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IP65 housing, MIFARE DESFire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card type in &lt;200ms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ring + buzzer feedback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77240" y="2560320"/>
            <a:ext cx="21945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6517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C firmware, 900 LOC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polling, card classifier,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driver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429000" y="1143000"/>
            <a:ext cx="246888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2"/>
          <p:cNvSpPr/>
          <p:nvPr/>
        </p:nvSpPr>
        <p:spPr>
          <a:xfrm>
            <a:off x="342900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cabinet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429000" y="1554480"/>
            <a:ext cx="2468880" cy="1920240"/>
          </a:xfrm>
          <a:prstGeom prst="rect">
            <a:avLst/>
          </a:prstGeom>
          <a:solidFill>
            <a:srgbClr val="F5F3FF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9164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886200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controller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56616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DIN-rail ARM SBC, Linux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NTCIP/SNMP to signal controller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manager state machine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566160" y="2560320"/>
            <a:ext cx="21945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Text 17"/>
          <p:cNvSpPr/>
          <p:nvPr/>
        </p:nvSpPr>
        <p:spPr>
          <a:xfrm>
            <a:off x="3566160" y="26517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Python, 3,000 LOC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56616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client, timing logic,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module, event logger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6217920" y="1143000"/>
            <a:ext cx="246888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0"/>
          <p:cNvSpPr/>
          <p:nvPr/>
        </p:nvSpPr>
        <p:spPr>
          <a:xfrm>
            <a:off x="621792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AI engine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217920" y="1554480"/>
            <a:ext cx="2468880" cy="1920240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91640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675120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+ analytics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35508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API, TimescaleDB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+ text insights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dashboard + public portal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355080" y="2560320"/>
            <a:ext cx="21945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0" name="Text 25"/>
          <p:cNvSpPr/>
          <p:nvPr/>
        </p:nvSpPr>
        <p:spPr>
          <a:xfrm>
            <a:off x="6355080" y="26517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3-5: Python + React, 5,600 LOC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35508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analysis, Gemini Q&amp;A,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near-miss detection, recommendations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3154680" y="214884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33" name="Text 28"/>
          <p:cNvSpPr/>
          <p:nvPr/>
        </p:nvSpPr>
        <p:spPr>
          <a:xfrm>
            <a:off x="3108960" y="228600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RS-485</a:t>
            </a:r>
            <a:endParaRPr lang="en-US" sz="700" dirty="0"/>
          </a:p>
        </p:txBody>
      </p:sp>
      <p:sp>
        <p:nvSpPr>
          <p:cNvPr id="34" name="Shape 29"/>
          <p:cNvSpPr/>
          <p:nvPr/>
        </p:nvSpPr>
        <p:spPr>
          <a:xfrm>
            <a:off x="5943600" y="214884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35" name="Text 30"/>
          <p:cNvSpPr/>
          <p:nvPr/>
        </p:nvSpPr>
        <p:spPr>
          <a:xfrm>
            <a:off x="5897880" y="228600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</a:t>
            </a:r>
            <a:endParaRPr lang="en-US" sz="700" dirty="0"/>
          </a:p>
        </p:txBody>
      </p:sp>
      <p:sp>
        <p:nvSpPr>
          <p:cNvPr id="36" name="Shape 31"/>
          <p:cNvSpPr/>
          <p:nvPr/>
        </p:nvSpPr>
        <p:spPr>
          <a:xfrm>
            <a:off x="640080" y="3794760"/>
            <a:ext cx="7863840" cy="86868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640080" y="3794760"/>
            <a:ext cx="54864" cy="86868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31920"/>
            <a:ext cx="274320" cy="27432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325880" y="3886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by design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914400" y="4160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SafeCross failing = SafeCross not existing. Can only increase walk time, never decrease. Baseline always restored. Independent conflict monitor catches any unsafe state. ~9,500 lines of custom code, fully specified.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023360" y="24688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demo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3474720"/>
            <a:ext cx="6400800" cy="1097280"/>
          </a:xfrm>
          <a:prstGeom prst="rect">
            <a:avLst/>
          </a:prstGeom>
          <a:solidFill>
            <a:srgbClr val="183B4E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35661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Simulate card tap → show extension granted in terminal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Show dashboard — live event with AI vision badge (vehicle detected)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Click intersection → Safety Analysis + AI Recommendation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2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943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SafeCross SF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1234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concept. Low cost. Real impact. AI at the core.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371600" y="17830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4"/>
          <p:cNvSpPr/>
          <p:nvPr/>
        </p:nvSpPr>
        <p:spPr>
          <a:xfrm>
            <a:off x="1371600" y="2103120"/>
            <a:ext cx="3200400" cy="822960"/>
          </a:xfrm>
          <a:prstGeom prst="rect">
            <a:avLst/>
          </a:prstGeom>
          <a:solidFill>
            <a:srgbClr val="183B4E"/>
          </a:solidFill>
          <a:ln/>
        </p:spPr>
      </p:sp>
      <p:sp>
        <p:nvSpPr>
          <p:cNvPr id="8" name="Text 5"/>
          <p:cNvSpPr/>
          <p:nvPr/>
        </p:nvSpPr>
        <p:spPr>
          <a:xfrm>
            <a:off x="155448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$1,430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554480" y="2560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cost per intersection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2103120"/>
            <a:ext cx="3200400" cy="822960"/>
          </a:xfrm>
          <a:prstGeom prst="rect">
            <a:avLst/>
          </a:prstGeom>
          <a:solidFill>
            <a:srgbClr val="183B4E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&lt;500ms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937760" y="2560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signal extension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371600" y="3108960"/>
            <a:ext cx="3200400" cy="822960"/>
          </a:xfrm>
          <a:prstGeom prst="rect">
            <a:avLst/>
          </a:prstGeom>
          <a:solidFill>
            <a:srgbClr val="183B4E"/>
          </a:solidFill>
          <a:ln/>
        </p:spPr>
      </p:sp>
      <p:sp>
        <p:nvSpPr>
          <p:cNvPr id="14" name="Text 11"/>
          <p:cNvSpPr/>
          <p:nvPr/>
        </p:nvSpPr>
        <p:spPr>
          <a:xfrm>
            <a:off x="155448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9,500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554480" y="3566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code, fully specified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54880" y="3108960"/>
            <a:ext cx="3200400" cy="822960"/>
          </a:xfrm>
          <a:prstGeom prst="rect">
            <a:avLst/>
          </a:prstGeom>
          <a:solidFill>
            <a:srgbClr val="183B4E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937760" y="3566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senior deaths preventable with more crossing time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71600" y="3977640"/>
            <a:ext cx="6583680" cy="457200"/>
          </a:xfrm>
          <a:prstGeom prst="rect">
            <a:avLst/>
          </a:prstGeom>
          <a:solidFill>
            <a:srgbClr val="183B4E"/>
          </a:solidFill>
          <a:ln/>
        </p:spPr>
      </p:sp>
      <p:sp>
        <p:nvSpPr>
          <p:cNvPr id="20" name="Shape 17"/>
          <p:cNvSpPr/>
          <p:nvPr/>
        </p:nvSpPr>
        <p:spPr>
          <a:xfrm>
            <a:off x="1371600" y="397764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1600200" y="3977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Traditional estimate: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9,500 LOC system spanning C firmware, Python edge services, cloud APIs, and React dashboards would typically require a team of 3–5 engineers over 6–9 months. We fully specified and architected it in a hackathon with AI.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371600" y="45262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Validate Clipper card readability with MTC → 10-intersection pilot → Scale citywide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3716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RocketRide  |  Gemini  |  Google Cloud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for all key claims  |  Backup slide — not presented in 3-minute pitch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"52.9% of SF traffic deaths are pedestrians"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10642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GHSA Pedestrian Traffic Fatalities by State (2024 data); NHTSA FARS</a:t>
            </a:r>
            <a:endParaRPr lang="en-US" sz="75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457200" y="123444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https://www.ghsa.org/resources/Pedestrians24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57200" y="14356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"75% of 2025 pedestrian fatalities were older adults (65+)"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58191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San Francisco via SF Examiner; SFMTA Press Release, Dec 2025</a:t>
            </a:r>
            <a:endParaRPr lang="en-US" sz="750" dirty="0"/>
          </a:p>
        </p:txBody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457200" y="1709928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https://www.sfmta.com/press-releases/press-release-san-francisco-traffic-fatalities-drop-nearly-half-2025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457200" y="191109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"Vision Zero: 43 deaths in 2024 — worst since 2007"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05740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KQED, "After Vision Zero, SF Overhauls Approach to Traffic Violence," Dec 2025</a:t>
            </a:r>
            <a:endParaRPr lang="en-US" sz="750" dirty="0"/>
          </a:p>
        </p:txBody>
      </p:sp>
      <p:sp>
        <p:nvSpPr>
          <p:cNvPr id="13" name="Text 11">
            <a:hlinkClick r:id="rId3" tooltip=""/>
          </p:cNvPr>
          <p:cNvSpPr/>
          <p:nvPr/>
        </p:nvSpPr>
        <p:spPr>
          <a:xfrm>
            <a:off x="457200" y="2185416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https://www.kqed.org/news/12025041/san-francisco-street-safety-executive-directive-lurie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57200" y="238658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"Speed cameras: 78% speeding reduction at 33 locations"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53288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SFMTA "10 Highlights from 2025" &amp; SFMTA Press Release, Dec 2025</a:t>
            </a:r>
            <a:endParaRPr lang="en-US" sz="750" dirty="0"/>
          </a:p>
        </p:txBody>
      </p:sp>
      <p:sp>
        <p:nvSpPr>
          <p:cNvPr id="16" name="Text 14">
            <a:hlinkClick r:id="rId4" tooltip=""/>
          </p:cNvPr>
          <p:cNvSpPr/>
          <p:nvPr/>
        </p:nvSpPr>
        <p:spPr>
          <a:xfrm>
            <a:off x="457200" y="26609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https://www.sfmta.com/blog/safer-streets-more-reliable-rides-10-highlights-2025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57200" y="28620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"2025 fatalities dropped ~50% (25 deaths vs 43 in 2024)"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300837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SFMTA Press Release, Dec 2025; Vision Zero Network, Mar 2026</a:t>
            </a:r>
            <a:endParaRPr lang="en-US" sz="750" dirty="0"/>
          </a:p>
        </p:txBody>
      </p:sp>
      <p:sp>
        <p:nvSpPr>
          <p:cNvPr id="19" name="Text 17">
            <a:hlinkClick r:id="rId5" tooltip=""/>
          </p:cNvPr>
          <p:cNvSpPr/>
          <p:nvPr/>
        </p:nvSpPr>
        <p:spPr>
          <a:xfrm>
            <a:off x="457200" y="3136392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https://visionzeronetwork.org/vision-zero-in-2025-shows-progress/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57200" y="333756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"Street Safety Act passed unanimously Sept 2025"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34838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San Francisco; SFCTA Vision Zero page</a:t>
            </a:r>
            <a:endParaRPr lang="en-US" sz="750" dirty="0"/>
          </a:p>
        </p:txBody>
      </p:sp>
      <p:sp>
        <p:nvSpPr>
          <p:cNvPr id="22" name="Text 20">
            <a:hlinkClick r:id="rId6" tooltip=""/>
          </p:cNvPr>
          <p:cNvSpPr/>
          <p:nvPr/>
        </p:nvSpPr>
        <p:spPr>
          <a:xfrm>
            <a:off x="457200" y="361188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https://walksf.org/blog/the-street-safety-act-is-passed-unanimously-by-the-board-of-supervisors/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57200" y="38130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"Traffic calming: 300+ backlogged applications, paused June 2025"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39593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Frisc, Nov 2025; SF Chronicle</a:t>
            </a:r>
            <a:endParaRPr lang="en-US" sz="750" dirty="0"/>
          </a:p>
        </p:txBody>
      </p:sp>
      <p:sp>
        <p:nvSpPr>
          <p:cNvPr id="25" name="Text 23">
            <a:hlinkClick r:id="rId7" tooltip=""/>
          </p:cNvPr>
          <p:cNvSpPr/>
          <p:nvPr/>
        </p:nvSpPr>
        <p:spPr>
          <a:xfrm>
            <a:off x="457200" y="4087368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https://thefrisc.com/sfmta-traffic-calming-speed-humps-141-locations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4754880" y="9601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"Singapore Green Man+ system — since 2009, 1,000+ crossings"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110642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Transport Authority of Singapore; Singapore Gov press releases</a:t>
            </a:r>
            <a:endParaRPr lang="en-US" sz="750" dirty="0"/>
          </a:p>
        </p:txBody>
      </p:sp>
      <p:sp>
        <p:nvSpPr>
          <p:cNvPr id="28" name="Text 26">
            <a:hlinkClick r:id="rId8" tooltip=""/>
          </p:cNvPr>
          <p:cNvSpPr/>
          <p:nvPr/>
        </p:nvSpPr>
        <p:spPr>
          <a:xfrm>
            <a:off x="4754880" y="123444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https://www.lta.gov.sg/content/ltagov/en/getting_around/driving_in_singapore/intelligent_transport_systems.html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4754880" y="14356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"Silver Zones: 80% crash reduction"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0" y="158191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LTA Singapore Silver Zone evaluation reports; FHWA peer review</a:t>
            </a:r>
            <a:endParaRPr lang="en-US" sz="750" dirty="0"/>
          </a:p>
        </p:txBody>
      </p:sp>
      <p:sp>
        <p:nvSpPr>
          <p:cNvPr id="31" name="Text 29">
            <a:hlinkClick r:id="rId9" tooltip=""/>
          </p:cNvPr>
          <p:cNvSpPr/>
          <p:nvPr/>
        </p:nvSpPr>
        <p:spPr>
          <a:xfrm>
            <a:off x="4754880" y="1709928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https://www.lta.gov.sg/content/ltagov/en/getting_around/driving_in_singapore/road_safety.html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4754880" y="191109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"Clipper cards: 3M+ in circulation, MIFARE DESFire EV1"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0" y="205740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Metropolitan Transportation Commission; Clipper card technical specs</a:t>
            </a:r>
            <a:endParaRPr lang="en-US" sz="750" dirty="0"/>
          </a:p>
        </p:txBody>
      </p:sp>
      <p:sp>
        <p:nvSpPr>
          <p:cNvPr id="34" name="Text 32">
            <a:hlinkClick r:id="rId10" tooltip=""/>
          </p:cNvPr>
          <p:cNvSpPr/>
          <p:nvPr/>
        </p:nvSpPr>
        <p:spPr>
          <a:xfrm>
            <a:off x="4754880" y="2185416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https://www.clippercard.com/ClipperWeb/index.html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4754880" y="238658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"Senior RTC card differentiation on Clipper"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0" y="253288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 Clipper Regional Transit Card program; SFMTA fare policy</a:t>
            </a:r>
            <a:endParaRPr lang="en-US" sz="750" dirty="0"/>
          </a:p>
        </p:txBody>
      </p:sp>
      <p:sp>
        <p:nvSpPr>
          <p:cNvPr id="37" name="Text 35">
            <a:hlinkClick r:id="rId11" tooltip=""/>
          </p:cNvPr>
          <p:cNvSpPr/>
          <p:nvPr/>
        </p:nvSpPr>
        <p:spPr>
          <a:xfrm>
            <a:off x="4754880" y="26609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https://www.sfmta.com/fares/clipper-card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4754880" y="28620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"NTCIP 1202 signal protocol — SNMP interface"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54880" y="300837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/ NTCIP Standards; FHWA Signal Timing Manual (FHWA-HOP-08-024)</a:t>
            </a:r>
            <a:endParaRPr lang="en-US" sz="750" dirty="0"/>
          </a:p>
        </p:txBody>
      </p:sp>
      <p:sp>
        <p:nvSpPr>
          <p:cNvPr id="40" name="Text 38">
            <a:hlinkClick r:id="rId12" tooltip=""/>
          </p:cNvPr>
          <p:cNvSpPr/>
          <p:nvPr/>
        </p:nvSpPr>
        <p:spPr>
          <a:xfrm>
            <a:off x="4754880" y="3136392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https://www.ntcip.org/library/standards/default.asp?documents=yes&amp;standard=1202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4754880" y="333756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"SF Connected Corridor pilot: 73% red-light delay reduction"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54880" y="34838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SFMTA/Sensys Networks 3rd Street pilot evaluation, 2024</a:t>
            </a:r>
            <a:endParaRPr lang="en-US" sz="750" dirty="0"/>
          </a:p>
        </p:txBody>
      </p:sp>
      <p:sp>
        <p:nvSpPr>
          <p:cNvPr id="43" name="Text 41">
            <a:hlinkClick r:id="rId13" tooltip=""/>
          </p:cNvPr>
          <p:cNvSpPr/>
          <p:nvPr/>
        </p:nvSpPr>
        <p:spPr>
          <a:xfrm>
            <a:off x="4754880" y="361188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https://www.sfmta.com/projects/connected-corridor-project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4754880" y="38130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"$1,430–3,100 per intersection" &amp; "&lt;500ms latency"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54880" y="39593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SafeCross SF internal BOM &amp; architecture spec (this project)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57200" y="47091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web sources accessed March 2026. Data verified across multiple sources where possible. Internal estimates marked accordingly.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SafeCross SF — 3-Minute Pitch</dc:title>
  <dc:subject>PptxGenJS Presentation</dc:subject>
  <dc:creator>SafeCross SF</dc:creator>
  <cp:lastModifiedBy>SafeCross SF</cp:lastModifiedBy>
  <cp:revision>1</cp:revision>
  <dcterms:created xsi:type="dcterms:W3CDTF">2026-03-21T19:39:03Z</dcterms:created>
  <dcterms:modified xsi:type="dcterms:W3CDTF">2026-03-21T19:39:03Z</dcterms:modified>
</cp:coreProperties>
</file>